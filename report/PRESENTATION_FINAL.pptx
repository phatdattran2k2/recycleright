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59956" autoAdjust="0"/>
  </p:normalViewPr>
  <p:slideViewPr>
    <p:cSldViewPr snapToGrid="0" snapToObjects="1">
      <p:cViewPr varScale="1">
        <p:scale>
          <a:sx n="48" d="100"/>
          <a:sy n="48" d="100"/>
        </p:scale>
        <p:origin x="17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5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4008"/>
            <a:ext cx="365760" cy="502005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229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RecycleRight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Waste Sorting System on Jetson Orin Nano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2487168"/>
            <a:ext cx="7315200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6334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陳發達 (611451001)  ·  楊瑋竣 (411201107)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03580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Prof. 宋建龍  |  Tatung University  |  I4210 AI Edge Computing Practicum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14400"/>
            <a:ext cx="3794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64008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contamination from wrong-bin deposits is the #1 cause of recyclables going to landfill. Taiwan's source-separation rules require 4 distinct categories. Static signs alone don't work.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395728"/>
            <a:ext cx="3794760" cy="12618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95728"/>
            <a:ext cx="64008" cy="1261872"/>
          </a:xfrm>
          <a:prstGeom prst="rect">
            <a:avLst/>
          </a:prstGeom>
          <a:solidFill>
            <a:srgbClr val="F6C90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44144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campuses, cafeterias, office floors — any high-traffic shared space with multi-bin stations. Venue operators, recycling processors, and end-users all benefit.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89120" y="914400"/>
            <a:ext cx="4389120" cy="2743200"/>
          </a:xfrm>
          <a:prstGeom prst="rect">
            <a:avLst/>
          </a:prstGeom>
          <a:solidFill>
            <a:srgbClr val="EBF8F2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914400"/>
            <a:ext cx="64008" cy="27432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Edge AI on Jetson Orin Nano?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29200" y="14173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169164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never leaves device — no cloud transmission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9659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1965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2240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ms vs 300+ ms cloud round-trip → servo responds instantly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2514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🔌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0" y="2514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GPIO/UART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7889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motors need direct hardware control via ESP32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3063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</a:rPr>
              <a:t>💡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3063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W always-on vs 150–350 W desktop GPU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System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14400"/>
            <a:ext cx="1920240" cy="411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192024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89888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IMX219 CSI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1280×720 @60fps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GStreamer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nvarguscamerasrc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40280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96312" y="914400"/>
            <a:ext cx="1920240" cy="41148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0" name="Text 8"/>
          <p:cNvSpPr/>
          <p:nvPr/>
        </p:nvSpPr>
        <p:spPr>
          <a:xfrm>
            <a:off x="2496312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96312" y="1325880"/>
            <a:ext cx="192024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1389888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FP16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≥ 0.50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 ms/frame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16552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672584" y="914400"/>
            <a:ext cx="1920240" cy="4114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5" name="Text 13"/>
          <p:cNvSpPr/>
          <p:nvPr/>
        </p:nvSpPr>
        <p:spPr>
          <a:xfrm>
            <a:off x="4672584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672584" y="1325880"/>
            <a:ext cx="192024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64024" y="1389888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10-frame vote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hits wins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lid_ready sync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handshake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92824" y="146304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48856" y="914400"/>
            <a:ext cx="192024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6848856" y="914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848856" y="1325880"/>
            <a:ext cx="1920240" cy="1691640"/>
          </a:xfrm>
          <a:prstGeom prst="rect">
            <a:avLst/>
          </a:prstGeom>
          <a:solidFill>
            <a:srgbClr val="F0F4F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40296" y="1389888"/>
            <a:ext cx="17373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ESP32+PCA9685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SG90 servo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status LED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ffplay audio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1272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Concurrent Threads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456432"/>
            <a:ext cx="1956816" cy="292608"/>
          </a:xfrm>
          <a:prstGeom prst="roundRect">
            <a:avLst>
              <a:gd name="adj" fmla="val 18750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474720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CameraCapture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96312" y="3456432"/>
            <a:ext cx="1431036" cy="292608"/>
          </a:xfrm>
          <a:prstGeom prst="roundRect">
            <a:avLst>
              <a:gd name="adj" fmla="val 18750"/>
            </a:avLst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2542032" y="3474720"/>
            <a:ext cx="1339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Detector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72584" y="3456432"/>
            <a:ext cx="2272284" cy="292608"/>
          </a:xfrm>
          <a:prstGeom prst="roundRect">
            <a:avLst>
              <a:gd name="adj" fmla="val 18750"/>
            </a:avLst>
          </a:prstGeom>
          <a:solidFill>
            <a:srgbClr val="1B6CA8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3474720"/>
            <a:ext cx="21808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SerialController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48856" y="3456432"/>
            <a:ext cx="2061972" cy="292608"/>
          </a:xfrm>
          <a:prstGeom prst="roundRect">
            <a:avLst>
              <a:gd name="adj" fmla="val 18750"/>
            </a:avLst>
          </a:prstGeom>
          <a:solidFill>
            <a:srgbClr val="4A5568"/>
          </a:solidFill>
          <a:ln/>
        </p:spPr>
      </p:sp>
      <p:sp>
        <p:nvSpPr>
          <p:cNvPr id="31" name="Text 29"/>
          <p:cNvSpPr/>
          <p:nvPr/>
        </p:nvSpPr>
        <p:spPr>
          <a:xfrm>
            <a:off x="6894576" y="3474720"/>
            <a:ext cx="19705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HUD/tegrastats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858768"/>
            <a:ext cx="8503920" cy="8229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3968496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(USB UART 115200) → PCA9685 I²C (addr 0x40) → 4× SG90 servo  |  Sequence: LED ON → 120° → 5s hold → 0° → LED OFF → DONE:&lt;label&gt;  |  lid_ready Event released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vs the Proposal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4864" cy="7498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01498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YOLOv12n (proposed)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691640" y="134416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YOLOv8n TRT FP16 (shipped)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31920" y="106984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has more mature TRT FP16 export on JetPack 6 / TRT 10.7. Same accuracy class, better toolchain stability.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56232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856232"/>
            <a:ext cx="54864" cy="74980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2938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Control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1911096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Direct Jetson GPIO servo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91640" y="224028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ESP32 + PCA9685 via UART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31920" y="19659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servo PWM from Jetson. DONE handshake provides clean mutual exclusion without asyncio complexity.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752344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52344"/>
            <a:ext cx="54864" cy="7498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82549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2807208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MQTT broker (Mosquitto)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1640" y="313639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threading.Queue + Event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931920" y="286207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Single-device deployment — direct Python primitives are lower latency and simpler to test than an MQTT round-trip.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648456"/>
            <a:ext cx="850392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648456"/>
            <a:ext cx="54864" cy="74980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72160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rejection LED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370332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GPIO-driven red LED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91640" y="403250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Removed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931920" y="375818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contention with PCA9685 I²C. Low-vote rejections handled by no-action + audio announcement instead.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&amp; Optimization Choices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868680"/>
          </a:xfrm>
          <a:prstGeom prst="rect">
            <a:avLst/>
          </a:prstGeom>
          <a:solidFill>
            <a:srgbClr val="1B6CA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54680" y="960120"/>
            <a:ext cx="1920240" cy="868680"/>
          </a:xfrm>
          <a:prstGeom prst="rect">
            <a:avLst/>
          </a:prstGeom>
          <a:solidFill>
            <a:srgbClr val="02C39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15468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FP16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546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9320" y="960120"/>
            <a:ext cx="1920240" cy="868680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8932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640×640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98932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965960"/>
            <a:ext cx="1920240" cy="868680"/>
          </a:xfrm>
          <a:prstGeom prst="rect">
            <a:avLst/>
          </a:prstGeom>
          <a:solidFill>
            <a:srgbClr val="F9616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011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004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1965960"/>
            <a:ext cx="1920240" cy="868680"/>
          </a:xfrm>
          <a:prstGeom prst="rect">
            <a:avLst/>
          </a:prstGeom>
          <a:solidFill>
            <a:srgbClr val="7B2D8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54680" y="2011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15468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Conf. Threshold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965960"/>
            <a:ext cx="1920240" cy="868680"/>
          </a:xfrm>
          <a:prstGeom prst="rect">
            <a:avLst/>
          </a:prstGeom>
          <a:solidFill>
            <a:srgbClr val="1A7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89320" y="2011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96.02%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8932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35808"/>
            <a:ext cx="8503920" cy="13716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3035808"/>
            <a:ext cx="54864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090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Export Pipeline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" y="3456432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12,571 images (10,056 train / 1,257 val / 1,258 test), collected with IMX219 at Tatung University lab. Labeled with Roboflow.
</a:t>
            </a:r>
            <a:r>
              <a:rPr lang="en-US" sz="10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</a:t>
            </a: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server, YOLOv8n pretrained COCO, 100 epochs AdamW, best checkpoint at epoch 0 (pretrained weights already excellent).
</a:t>
            </a:r>
            <a:r>
              <a:rPr lang="en-US" sz="1050" b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Export: </a:t>
            </a: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model.export(format='engine', half=True) on-device — TRT engine built for Orin Nano SM 8.7 / TRT 10.7 / CUDA 12.6.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9436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618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0515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MOG2 Motion-Gated Inference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39903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frame passes MOG2 background subtraction first (~1 ms CPU). YOLO inference (~23 ms GPU) only runs if a foreground contour exceeds MIN_AREA = 500 px². This gate suppresses &gt; 95% of inference calls on idle frames — the reason live GPU utilization is ~55% rather than saturated, preserving thermal headroom for bursty item presentation.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67128"/>
            <a:ext cx="594360" cy="105156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68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22585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10-Frame Majority Voting + lid_ready Interlock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6060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accumulate VOTE_FRAMES=10 frames and require VOTE_THRESHOLD=6 (≥60%) agreement before dispatching. Once a command is sent, lid_ready.clear() prevents any further dispatch until the ESP32 sends DONE:&lt;label&gt;\n back. Two layers of false-positive protection: statistical confidence + hardware interlock.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74136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374136"/>
            <a:ext cx="594360" cy="105156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36758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24128" y="3465576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FP16 On-Device Export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24128" y="3813048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 (FP32) → best_fp16.engine via model.export(format='engine', half=True) running on the Jetson itself. TRT engines are compiled for a specific SM version and CUDA version — never copy .engine files between machines. Export takes ~3–5 min; loads in &lt;2 s at inference time.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 (continued)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94360" cy="10515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6187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051560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Firmware — Busy Guard &amp; Serial Flush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399032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busy flag in the Arduino loop() ignores all incoming serial bytes during an active sort cycle. After the servo sequence completes, while(Serial.available()) Serial.read() flushes the buffer before sending DONE: — preventing any queued ghost commands from triggering a second sort. Discovered through direct physical observation: the servo opened twice on a single item.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2167128"/>
            <a:ext cx="850392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167128"/>
            <a:ext cx="594360" cy="105156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4688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225856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CI/CD Pipeline on Self-Hosted Jetson Runner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60604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→ test (≥90% coverage) → security-scan (bandit + pip-audit) → build (arm64 Docker → GHCR) → integration-test (pulls image on Jetson runner, end-to-end test). The conftest.py mock layer lets all unit tests run on Ubuntu cloud runners with no GPU, camera, or serial port. Only integration-test requires the real Jetson.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401568"/>
            <a:ext cx="8503920" cy="914400"/>
          </a:xfrm>
          <a:prstGeom prst="rect">
            <a:avLst/>
          </a:prstGeom>
          <a:solidFill>
            <a:srgbClr val="D5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456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 Protocol: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67328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→ ESP32:  PET\n  |  GLS\n  |  MTL\n  |  PAP\n       ESP32 → Jetson:  DONE:PET bottle\n  |  DONE:Glass bottle\n  |  ...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— 5-Stage GitHub Actions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05840"/>
            <a:ext cx="1554480" cy="1143000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148132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check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violations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011680" y="1005840"/>
            <a:ext cx="1554480" cy="1143000"/>
          </a:xfrm>
          <a:prstGeom prst="rect">
            <a:avLst/>
          </a:prstGeom>
          <a:solidFill>
            <a:srgbClr val="1B6CA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84832" y="148132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coverage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749040" y="1005840"/>
            <a:ext cx="1554480" cy="1143000"/>
          </a:xfrm>
          <a:prstGeom prst="rect">
            <a:avLst/>
          </a:prstGeom>
          <a:solidFill>
            <a:srgbClr val="7B2D8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4904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22192" y="148132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pip-audit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0" y="1005840"/>
            <a:ext cx="1554480" cy="1143000"/>
          </a:xfrm>
          <a:prstGeom prst="rect">
            <a:avLst/>
          </a:prstGeom>
          <a:solidFill>
            <a:srgbClr val="F96167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59552" y="148132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arm64 Docker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GHCR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223760" y="1005840"/>
            <a:ext cx="1554480" cy="1143000"/>
          </a:xfrm>
          <a:prstGeom prst="rect">
            <a:avLst/>
          </a:prstGeom>
          <a:solidFill>
            <a:srgbClr val="1A7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23760" y="1051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96912" y="148132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runner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2240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GitHub-Hosted (Ubuntu — no GPU needed)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22376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Jetson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2633472"/>
            <a:ext cx="15544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7472" y="27066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30540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Pull Request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011680" y="2633472"/>
            <a:ext cx="15544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084832" y="27066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84832" y="30540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--cov-fail-under=90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tests pass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749040" y="2633472"/>
            <a:ext cx="15544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822192" y="27066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22192" y="30540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high-severity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findings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0" y="2633472"/>
            <a:ext cx="15544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559552" y="27066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tag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559552" y="30540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sha-&lt;commit&gt;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:latest float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23760" y="2633472"/>
            <a:ext cx="155448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96912" y="270662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96912" y="3054096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v* triggers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deploy.yml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3657600"/>
            <a:ext cx="8595360" cy="5943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Tag-triggered deploy.yml: git tag v1.0.0 → push → Jetson runner pulls GHCR image → deploy.sh → healthcheck.sh → rollback.sh available (&lt; 30 s to previous tag)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&amp; Methodology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14400"/>
            <a:ext cx="21945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" y="95097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914400"/>
            <a:ext cx="12801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9464" y="9509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94760" y="914400"/>
            <a:ext cx="12801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9624" y="9509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4920" y="914400"/>
            <a:ext cx="12801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9784" y="9509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914400"/>
            <a:ext cx="12801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9944" y="9509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298448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335024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bottle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14600" y="1298448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9464" y="13350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5,093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94760" y="1298448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9624" y="13350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1298448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9784" y="13350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1298448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9944" y="13350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6,420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1682496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" y="1719072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can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14600" y="1682496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17190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94760" y="1682496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9624" y="17190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1682496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9784" y="17190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1682496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17190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3,158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066544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210312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bottle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514600" y="2066544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9464" y="21031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94760" y="206654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9624" y="21031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74920" y="2066544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9784" y="21031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206654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9944" y="21031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2,860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2450592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" y="24871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 Pak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514600" y="2450592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69464" y="24871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1,820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94760" y="2450592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9624" y="24871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271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74920" y="2450592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9784" y="24871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2450592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9944" y="24871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2834640"/>
            <a:ext cx="21945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" y="2871216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instances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514600" y="2834640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69464" y="28712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11,770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794760" y="2834640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9624" y="28712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1,484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74920" y="2834640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9784" y="28712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1,496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55080" y="2834640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9944" y="28712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14,750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32918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320040" y="3291840"/>
            <a:ext cx="54864" cy="1463040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66" name="Text 64"/>
          <p:cNvSpPr/>
          <p:nvPr/>
        </p:nvSpPr>
        <p:spPr>
          <a:xfrm>
            <a:off x="50292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Measurement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02920" y="3703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model.val() on held-out test split (1,258 images)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 on best.pt FP32 (training server)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as best_fp16.engine (&lt; 0.5 mAP drop expected)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conf=0.50, IoU=0.70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709160" y="3291840"/>
            <a:ext cx="4114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09160" y="3291840"/>
            <a:ext cx="54864" cy="1463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0" name="Text 68"/>
          <p:cNvSpPr/>
          <p:nvPr/>
        </p:nvSpPr>
        <p:spPr>
          <a:xfrm>
            <a:off x="489204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Instrumentation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892040" y="3703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FPS: pipeline-level counter in Detector thread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Latency: time.perf_counter() around model() call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GPU%/Power: sudo tegrastats --interval 1000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Parsed by scripts/parse_tegrastats.py → utilization.csv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449 samples @ 1 Hz, ≥60 s sustained live run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Requirements &amp; Optimization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14400"/>
            <a:ext cx="1353312" cy="713232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92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≥25 FPS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37160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FPS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64792" y="914400"/>
            <a:ext cx="1353312" cy="713232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64792" y="9692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≤60 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64792" y="137160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9544" y="914400"/>
            <a:ext cx="1353312" cy="713232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9544" y="9692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≥0.80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9544" y="137160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54296" y="914400"/>
            <a:ext cx="1353312" cy="713232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54296" y="9692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≤15 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54296" y="137160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VDD_IN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99048" y="914400"/>
            <a:ext cx="1353312" cy="713232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99048" y="9692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≥40% GPU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9048" y="137160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Utilization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543800" y="914400"/>
            <a:ext cx="1353312" cy="713232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43800" y="969264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≤60% CPU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43800" y="1371600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Headroom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1755648"/>
            <a:ext cx="16459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179222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65960" y="1755648"/>
            <a:ext cx="12801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20824" y="17922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1755648"/>
            <a:ext cx="109728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00984" y="179222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43400" y="175564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98264" y="179222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257800" y="175564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12664" y="179222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175564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179222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86600" y="1755648"/>
            <a:ext cx="17373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41464" y="179222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231136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" y="2267712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FP32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65960" y="2231136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0824" y="226771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best.pt 15W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46120" y="2231136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00984" y="22677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43400" y="2231136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98264" y="2267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24.8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57800" y="223113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12664" y="2267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72200" y="2231136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27064" y="226771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 W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86600" y="2231136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41464" y="226771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2706624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4904" y="274320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FP16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965960" y="2706624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020824" y="274320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FP16 15W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46120" y="2706624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00984" y="274320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43400" y="2706624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98264" y="27432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257800" y="270662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12664" y="27432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172200" y="2706624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27064" y="27432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W ↓14%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86600" y="2706624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41464" y="274320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power efficiency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318211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4904" y="3218688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25W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965960" y="3182112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20824" y="321868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+ 25W mode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46120" y="3182112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300984" y="32186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43400" y="3182112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98264" y="32186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257800" y="318211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12664" y="32186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172200" y="3182112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227064" y="321868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W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086600" y="3182112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141464" y="32186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+4% FPS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" y="3657600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74904" y="369417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MAXN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1965960" y="3657600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020824" y="36941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+ MAXN mode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246120" y="3657600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00984" y="369417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343400" y="3657600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98264" y="36941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257800" y="3657600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312664" y="36941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6172200" y="3657600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227064" y="36941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 W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086600" y="365760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141464" y="369417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gain vs 25W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20040" y="4133088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374904" y="4169664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Live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1965960" y="4133088"/>
            <a:ext cx="128016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020824" y="416966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MOG2 + 4 threads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3246120" y="4133088"/>
            <a:ext cx="1097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300984" y="416966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343400" y="4133088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98264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257800" y="4133088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312664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172200" y="4133088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27064" y="416966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 W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086600" y="4133088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141464" y="416966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deployment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20040" y="4535424"/>
            <a:ext cx="8503920" cy="594360"/>
          </a:xfrm>
          <a:prstGeom prst="rect">
            <a:avLst/>
          </a:prstGeom>
          <a:solidFill>
            <a:srgbClr val="D5F0E0"/>
          </a:solidFill>
          <a:ln/>
        </p:spPr>
      </p:sp>
      <p:sp>
        <p:nvSpPr>
          <p:cNvPr id="107" name="Text 105"/>
          <p:cNvSpPr/>
          <p:nvPr/>
        </p:nvSpPr>
        <p:spPr>
          <a:xfrm>
            <a:off x="502920" y="46085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All 6 targets met: FPS 43.1≥25 ✅  p95 30.2ms≤60ms ✅  mAP 96.02%≥80% ✅  Power 7.5W≤15W ✅  GPU 55%≥40% ✅  CPU 48.5%≤60% ✅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Accuracy &amp;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1920240" cy="868680"/>
          </a:xfrm>
          <a:prstGeom prst="rect">
            <a:avLst/>
          </a:prstGeom>
          <a:solidFill>
            <a:srgbClr val="1A7A4A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96.02%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2004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mAP@50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960120"/>
            <a:ext cx="1920240" cy="868680"/>
          </a:xfrm>
          <a:prstGeom prst="rect">
            <a:avLst/>
          </a:prstGeom>
          <a:solidFill>
            <a:srgbClr val="1B6CA8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33172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960120"/>
            <a:ext cx="1920240" cy="868680"/>
          </a:xfrm>
          <a:prstGeom prst="rect">
            <a:avLst/>
          </a:prstGeom>
          <a:solidFill>
            <a:srgbClr val="028090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4340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96.38%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34340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960120"/>
            <a:ext cx="1920240" cy="868680"/>
          </a:xfrm>
          <a:prstGeom prst="rect">
            <a:avLst/>
          </a:prstGeom>
          <a:solidFill>
            <a:srgbClr val="7B2D8B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5080" y="100584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96.66%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1938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AP@50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32257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3591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Aluminum can (best)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23591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97.30%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2825496"/>
            <a:ext cx="416052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28620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bottle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86207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96.19%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328416"/>
            <a:ext cx="4160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364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 Pak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34640" y="33649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95.65%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20040" y="3831336"/>
            <a:ext cx="4160520" cy="384048"/>
          </a:xfrm>
          <a:prstGeom prst="rect">
            <a:avLst/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867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bottle (lowest)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34640" y="386791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94.95%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663440" y="1938528"/>
            <a:ext cx="128016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197510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43600" y="193852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98464" y="19751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1938528"/>
            <a:ext cx="91440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12864" y="197510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p50ms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0" y="1938528"/>
            <a:ext cx="9601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75104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2414016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245059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15W (FP16)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43600" y="2414016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98464" y="245059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58000" y="2414016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12864" y="245059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22.9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772400" y="2414016"/>
            <a:ext cx="9601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27264" y="2450592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63440" y="2889504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260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 (FP16)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2889504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98464" y="292608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58000" y="2889504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12864" y="292608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72400" y="2889504"/>
            <a:ext cx="9601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827264" y="292608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31.8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3364992"/>
            <a:ext cx="1280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18304" y="34015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MAXN (FP16)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3364992"/>
            <a:ext cx="914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98464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3364992"/>
            <a:ext cx="914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12864" y="340156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772400" y="3364992"/>
            <a:ext cx="96012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27264" y="3401568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30.9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63440" y="3383280"/>
            <a:ext cx="40690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663440" y="3383280"/>
            <a:ext cx="54864" cy="9144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3" name="Text 61"/>
          <p:cNvSpPr/>
          <p:nvPr/>
        </p:nvSpPr>
        <p:spPr>
          <a:xfrm>
            <a:off x="4846320" y="343814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Pipeline (tegrastats, 449 samples)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846320" y="376732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avg: 32.1%   GPU avg: 45.3%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VDD_IN avg: 6,712 mW (6.7 W)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VDD_IN peak: 8,124 mW (8.1 W)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thermal throttling observed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→ Process → Decide → 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254203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Jetson powered on — tegrastats visible in corner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371600" y="287121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Live IMX219 CSI camera feed — NOT a pre-recorded video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71600" y="32004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YOLOv8n TRT FP16 inference — bounding boxes + FPS counter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352958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10-frame voting window reaches threshold → decision fires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38587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SG90 servo opens to 120° — bin lid physically moves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71600" y="418795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Mandarin audio announcement plays — confirms item category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45171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ESP32 sends DONE: → lid closes → system unlocks for next item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47731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(Recorded backup available if live setup fails)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65836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0241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TRT Engine Must Be Built on Target Device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Tried exporting on laptop (x86 CUDA 11.8) and copying .engine to Jetson → GPU architecture mismatch error. TRT compiles for a specific SM version. Always run export_fp16.py on the Jetson itself. Cost us one full 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64792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64792"/>
            <a:ext cx="502920" cy="6583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20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8288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GStreamer Pipelines Are Not Portable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21305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nvarguscamerasrc only works on JetPack Jetson systems. Our conftest.py mock layer solved this: mock cv2.VideoCapture at import time → 90%+ coverage on cloud runners with no camera.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569464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569464"/>
            <a:ext cx="50292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7249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263347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MOG2 Thresholds Require In-Situ Calibration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" y="2935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MIN_AREA=200 triggered false positives from fluorescent flicker. Raised to 500. The right value depends on camera height, lighting, and bin opening size — cannot be determined from a dataset alone.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374136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74136"/>
            <a:ext cx="502920" cy="65836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5295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34381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lid_ready Interlock Was Not in the Original Design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0120" y="37398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in integration testing: removing an item before the vote window closed could queue two commands. The Event-based interlock completely eliminates this race condition. Patterns we didn't anticipate during the proposal phase.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178808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78808"/>
            <a:ext cx="502920" cy="658368"/>
          </a:xfrm>
          <a:prstGeom prst="rect">
            <a:avLst/>
          </a:prstGeom>
          <a:solidFill>
            <a:srgbClr val="F6C90E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33425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424281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tegrastats Format Changed in JetPack 6.x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60120" y="45445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VDD_CPU_GPU_CV replaced POM_5V_GPU. CPU frequency format changed. Our parse_tegrastats.py uses regex fallbacks for both JetPack 5 and 6. Always test parsers against actual log output before trusting numbers.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Differently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65836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1556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024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140533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INT8 vs FP16 at Week 1, not Week 13. We scaffolded a calibration/ directory but never populated it. Benchmark both on a small test set early and commit to one path.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755648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755648"/>
            <a:ext cx="502920" cy="658368"/>
          </a:xfrm>
          <a:prstGeom prst="rect">
            <a:avLst/>
          </a:prstGeom>
          <a:solidFill>
            <a:srgbClr val="1B6CA8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9110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18196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楊瑋竣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195681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integration tests before wiring the actuator. We spent Week 13 retrofitting tests around code that was already running on hardware. Contracts first, implementation second.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551176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551176"/>
            <a:ext cx="502920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706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6151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陳發達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2980" y="2701617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class-distribution analysis at Week 9, not Week 14. Glass bottle AP was lowest (94.95%). Knowing this earlier would have let us collect more samples while time permitted.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346704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46704"/>
            <a:ext cx="502920" cy="658368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5021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3410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陳發達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05840" y="35021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nvpmodel mode in deploy.sh. During demos we forgot which power mode was active. One line of sudo nvpmodel -m 1 in deploy.sh ensures reproducible performance on every deploy.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142232"/>
            <a:ext cx="850392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142232"/>
            <a:ext cx="502920" cy="65836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2976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206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2980" y="427024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the self-hosted Jetson runner at Week 10, not Week 14. Setup takes 30 minutes. Starting earlier means catching integration failures weeks sooner, when there's still time to fix them.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4064"/>
            <a:ext cx="91440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548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6949440" cy="960120"/>
          </a:xfrm>
          <a:prstGeom prst="rect">
            <a:avLst/>
          </a:prstGeom>
          <a:solidFill>
            <a:srgbClr val="162434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7627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陳發達 (611451001)  —  Hardware integration, ESP32 firmware, dataset, model training, benchmarking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5420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楊瑋竣 (411201107)  —  Software architecture, CI/CD pipeline, test suite, parse_tegrastats.py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566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Why YOLOv8n over YOLOv12n?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03320" y="3566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What if the camera disconnects?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09360" y="3566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How would this scale to 50 devices?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What's the worst failure mode observed?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0332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Walk through what CI does on a PR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14400" y="47731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github.com/phatdattran2k2/recycleright  |  Supervisor: Prof. 宋建龍  |  June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1958</Words>
  <Application>Microsoft Office PowerPoint</Application>
  <PresentationFormat>On-screen Show (16:9)</PresentationFormat>
  <Paragraphs>349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RecycleRight — AI-Powered Waste Sorting System</dc:title>
  <dc:subject>PptxGenJS Presentation</dc:subject>
  <dc:creator>陳發達 &amp; 楊瑋竣</dc:creator>
  <cp:lastModifiedBy>Asus</cp:lastModifiedBy>
  <cp:revision>5</cp:revision>
  <dcterms:created xsi:type="dcterms:W3CDTF">2026-06-09T22:58:54Z</dcterms:created>
  <dcterms:modified xsi:type="dcterms:W3CDTF">2026-06-19T03:27:08Z</dcterms:modified>
</cp:coreProperties>
</file>